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google.com/spreadsheets/d/1Qx9rdFlCteVn3vudJ1aJ0IMH8KpF01YtTksyN4fgkX0/edit" TargetMode="External"/><Relationship Id="rId3" Type="http://schemas.openxmlformats.org/officeDocument/2006/relationships/hyperlink" Target="https://mcp-server-dataanalyticswidgets-d90d6b74b2c37858.web-sandbox.oaiusercontent.com/?app=skybridg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D"/>
          </a:solidFill>
          <a:ln w="9525">
            <a:solidFill>
              <a:srgbClr val="FCFC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yebrow"/>
          <p:cNvSpPr txBox="1"/>
          <p:nvPr/>
        </p:nvSpPr>
        <p:spPr>
          <a:xfrm>
            <a:off x="658368" y="420624"/>
            <a:ext cx="4754880" cy="329184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950" b="1">
                <a:solidFill>
                  <a:srgbClr val="626B7F"/>
                </a:solidFill>
                <a:latin typeface="Arial"/>
              </a:rPr>
              <a:t>Analytics report</a:t>
            </a:r>
          </a:p>
        </p:txBody>
      </p:sp>
      <p:sp>
        <p:nvSpPr>
          <p:cNvPr id="4" name="slide-title"/>
          <p:cNvSpPr txBox="1"/>
          <p:nvPr/>
        </p:nvSpPr>
        <p:spPr>
          <a:xfrm>
            <a:off x="621792" y="868680"/>
            <a:ext cx="10698480" cy="141732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2800" b="1">
                <a:solidFill>
                  <a:srgbClr val="1F2430"/>
                </a:solidFill>
                <a:latin typeface="Arial"/>
              </a:rPr>
              <a:t>가계부 자동차/카드대금 임원 보고서</a:t>
            </a:r>
          </a:p>
        </p:txBody>
      </p:sp>
      <p:sp>
        <p:nvSpPr>
          <p:cNvPr id="5" name="title-rule"/>
          <p:cNvSpPr/>
          <p:nvPr/>
        </p:nvSpPr>
        <p:spPr>
          <a:xfrm>
            <a:off x="658368" y="2468880"/>
            <a:ext cx="1325880" cy="22860"/>
          </a:xfrm>
          <a:prstGeom prst="rect">
            <a:avLst/>
          </a:prstGeom>
          <a:solidFill>
            <a:srgbClr val="B8A037"/>
          </a:solidFill>
          <a:ln>
            <a:solidFill>
              <a:srgbClr val="B8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e"/>
          <p:cNvSpPr txBox="1"/>
          <p:nvPr/>
        </p:nvSpPr>
        <p:spPr>
          <a:xfrm>
            <a:off x="658368" y="2761488"/>
            <a:ext cx="9784080" cy="91440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464C55"/>
                </a:solidFill>
                <a:latin typeface="Arial"/>
              </a:rPr>
              <a:t/>
            </a:r>
          </a:p>
        </p:txBody>
      </p:sp>
      <p:sp>
        <p:nvSpPr>
          <p:cNvPr id="7" name="source-note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750" b="0">
                <a:solidFill>
                  <a:srgbClr val="626B7F"/>
                </a:solidFill>
                <a:latin typeface="Arial"/>
              </a:rPr>
              <a:t>Source: HTML report conversion inventory.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D"/>
          </a:solidFill>
          <a:ln w="9525">
            <a:solidFill>
              <a:srgbClr val="FCFC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-title"/>
          <p:cNvSpPr txBox="1"/>
          <p:nvPr/>
        </p:nvSpPr>
        <p:spPr>
          <a:xfrm>
            <a:off x="594360" y="411480"/>
            <a:ext cx="10972800" cy="54864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2500" b="1">
                <a:solidFill>
                  <a:srgbClr val="1F2430"/>
                </a:solidFill>
                <a:latin typeface="Arial"/>
              </a:rPr>
              <a:t>Executive summary</a:t>
            </a:r>
          </a:p>
        </p:txBody>
      </p:sp>
      <p:sp>
        <p:nvSpPr>
          <p:cNvPr id="4" name="summary-rule"/>
          <p:cNvSpPr/>
          <p:nvPr/>
        </p:nvSpPr>
        <p:spPr>
          <a:xfrm>
            <a:off x="658368" y="1069848"/>
            <a:ext cx="1097280" cy="22860"/>
          </a:xfrm>
          <a:prstGeom prst="rect">
            <a:avLst/>
          </a:prstGeom>
          <a:solidFill>
            <a:srgbClr val="B8A037"/>
          </a:solidFill>
          <a:ln>
            <a:solidFill>
              <a:srgbClr val="B8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ummary-bullets"/>
          <p:cNvSpPr txBox="1"/>
          <p:nvPr/>
        </p:nvSpPr>
        <p:spPr>
          <a:xfrm>
            <a:off x="658368" y="1353312"/>
            <a:ext cx="10561320" cy="4343400"/>
          </a:xfrm>
          <a:prstGeom prst="rect">
            <a:avLst/>
          </a:prstGeom>
          <a:noFill/>
        </p:spPr>
        <p:txBody>
          <a:bodyPr wrap="square" lIns="50800" rIns="50800" tIns="12700" bIns="12700">
            <a:spAutoFit/>
          </a:bodyPr>
          <a:lstStyle/>
          <a:p>
            <a:pPr marL="285750" indent="-142875">
              <a:buChar char="•"/>
              <a:spcAft>
                <a:spcPts val="550"/>
              </a:spcAft>
            </a:pPr>
            <a:r>
              <a:rPr sz="1620">
                <a:solidFill>
                  <a:srgbClr val="1F2430"/>
                </a:solidFill>
                <a:latin typeface="Arial"/>
              </a:rPr>
              <a:t>자동차 관련 반복 지출은 통행료가 주유비에 근접하거나 일부 월에는 더 큽니다.</a:t>
            </a:r>
          </a:p>
          <a:p>
            <a:pPr marL="285750" indent="-142875">
              <a:buChar char="•"/>
              <a:spcAft>
                <a:spcPts val="550"/>
              </a:spcAft>
            </a:pPr>
            <a:r>
              <a:rPr sz="1620">
                <a:solidFill>
                  <a:srgbClr val="1F2430"/>
                </a:solidFill>
                <a:latin typeface="Arial"/>
              </a:rPr>
              <a:t>2026-06은 통행료가 319,420원으로 기간 내 최고치입니다.</a:t>
            </a:r>
          </a:p>
          <a:p>
            <a:pPr marL="285750" indent="-142875">
              <a:buChar char="•"/>
              <a:spcAft>
                <a:spcPts val="550"/>
              </a:spcAft>
            </a:pPr>
            <a:r>
              <a:rPr sz="1620">
                <a:solidFill>
                  <a:srgbClr val="1F2430"/>
                </a:solidFill>
                <a:latin typeface="Arial"/>
              </a:rPr>
              <a:t>카드대금은 변형 표기 반영 후 총 34,426,639원입니다.</a:t>
            </a:r>
          </a:p>
          <a:p>
            <a:pPr marL="285750" indent="-142875">
              <a:buChar char="•"/>
              <a:spcAft>
                <a:spcPts val="550"/>
              </a:spcAft>
            </a:pPr>
            <a:r>
              <a:rPr sz="1620">
                <a:solidFill>
                  <a:srgbClr val="1F2430"/>
                </a:solidFill>
                <a:latin typeface="Arial"/>
              </a:rPr>
              <a:t>분류 기준상 일부 주유소명은 통행료 키워드와 겹칩니다.</a:t>
            </a:r>
          </a:p>
        </p:txBody>
      </p:sp>
      <p:sp>
        <p:nvSpPr>
          <p:cNvPr id="6" name="source-note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750" b="0">
                <a:solidFill>
                  <a:srgbClr val="626B7F"/>
                </a:solidFill>
                <a:latin typeface="Arial"/>
              </a:rPr>
              <a:t>Source: report executive summary.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D"/>
          </a:solidFill>
          <a:ln w="9525">
            <a:solidFill>
              <a:srgbClr val="FCFC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-title"/>
          <p:cNvSpPr txBox="1"/>
          <p:nvPr/>
        </p:nvSpPr>
        <p:spPr>
          <a:xfrm>
            <a:off x="566928" y="347472"/>
            <a:ext cx="10972800" cy="749808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2000" b="1">
                <a:solidFill>
                  <a:srgbClr val="1F2430"/>
                </a:solidFill>
                <a:latin typeface="Arial"/>
              </a:rPr>
              <a:t>주유비는 2026-04에 390,000원으로 정점을 찍었고, 2026-06에도 312,600원으로 높은 수준을 유지했습니다.</a:t>
            </a:r>
          </a:p>
        </p:txBody>
      </p:sp>
      <p:sp>
        <p:nvSpPr>
          <p:cNvPr id="4" name="chart-frame"/>
          <p:cNvSpPr/>
          <p:nvPr/>
        </p:nvSpPr>
        <p:spPr>
          <a:xfrm>
            <a:off x="658368" y="1170432"/>
            <a:ext cx="7315200" cy="4617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chart-main" descr="char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2817"/>
            <a:ext cx="6903720" cy="3158085"/>
          </a:xfrm>
          <a:prstGeom prst="rect">
            <a:avLst/>
          </a:prstGeom>
        </p:spPr>
      </p:pic>
      <p:sp>
        <p:nvSpPr>
          <p:cNvPr id="6" name="chart-callout-frame"/>
          <p:cNvSpPr/>
          <p:nvPr/>
        </p:nvSpPr>
        <p:spPr>
          <a:xfrm>
            <a:off x="8229600" y="1170432"/>
            <a:ext cx="3246120" cy="4617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-callout-heading"/>
          <p:cNvSpPr txBox="1"/>
          <p:nvPr/>
        </p:nvSpPr>
        <p:spPr>
          <a:xfrm>
            <a:off x="8458200" y="1417320"/>
            <a:ext cx="2788920" cy="32004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626B7F"/>
                </a:solidFill>
                <a:latin typeface="Arial"/>
              </a:rPr>
              <a:t>Context</a:t>
            </a:r>
          </a:p>
        </p:txBody>
      </p:sp>
      <p:sp>
        <p:nvSpPr>
          <p:cNvPr id="8" name="chart-callout"/>
          <p:cNvSpPr txBox="1"/>
          <p:nvPr/>
        </p:nvSpPr>
        <p:spPr>
          <a:xfrm>
            <a:off x="8458200" y="1783080"/>
            <a:ext cx="2788920" cy="201168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1250" b="0">
                <a:solidFill>
                  <a:srgbClr val="1F2430"/>
                </a:solidFill>
                <a:latin typeface="Arial"/>
              </a:rPr>
              <a:t>2026-07은 7월 2일까지의 부분월이라 비교 시 낮게 보아야 합니다.</a:t>
            </a:r>
          </a:p>
        </p:txBody>
      </p:sp>
      <p:sp>
        <p:nvSpPr>
          <p:cNvPr id="9" name="chart-source"/>
          <p:cNvSpPr txBox="1"/>
          <p:nvPr/>
        </p:nvSpPr>
        <p:spPr>
          <a:xfrm>
            <a:off x="8458200" y="4279392"/>
            <a:ext cx="2788920" cy="68580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850" b="0">
                <a:solidFill>
                  <a:srgbClr val="626B7F"/>
                </a:solidFill>
                <a:latin typeface="Arial"/>
              </a:rPr>
              <a:t>400k 200k 0 25-07 08 09 10 11 12 26-01 02 03 04 05 06 26-07</a:t>
            </a:r>
          </a:p>
        </p:txBody>
      </p:sp>
      <p:sp>
        <p:nvSpPr>
          <p:cNvPr id="10" name="source-note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750" b="0">
                <a:solidFill>
                  <a:srgbClr val="626B7F"/>
                </a:solidFill>
                <a:latin typeface="Arial"/>
              </a:rPr>
              <a:t>Source chart 1: extracted from report SVG and rendered as chart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D"/>
          </a:solidFill>
          <a:ln w="9525">
            <a:solidFill>
              <a:srgbClr val="FCFC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-title"/>
          <p:cNvSpPr txBox="1"/>
          <p:nvPr/>
        </p:nvSpPr>
        <p:spPr>
          <a:xfrm>
            <a:off x="566928" y="347472"/>
            <a:ext cx="10972800" cy="749808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2000" b="1">
                <a:solidFill>
                  <a:srgbClr val="1F2430"/>
                </a:solidFill>
                <a:latin typeface="Arial"/>
              </a:rPr>
              <a:t>하이패스 통행료는 월별 건수가 많고 금액 변동도 독립적입니다.</a:t>
            </a:r>
          </a:p>
        </p:txBody>
      </p:sp>
      <p:sp>
        <p:nvSpPr>
          <p:cNvPr id="4" name="chart-frame"/>
          <p:cNvSpPr/>
          <p:nvPr/>
        </p:nvSpPr>
        <p:spPr>
          <a:xfrm>
            <a:off x="658368" y="1170432"/>
            <a:ext cx="7315200" cy="4617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chart-main" descr="chart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2817"/>
            <a:ext cx="6903720" cy="3158085"/>
          </a:xfrm>
          <a:prstGeom prst="rect">
            <a:avLst/>
          </a:prstGeom>
        </p:spPr>
      </p:pic>
      <p:sp>
        <p:nvSpPr>
          <p:cNvPr id="6" name="chart-callout-frame"/>
          <p:cNvSpPr/>
          <p:nvPr/>
        </p:nvSpPr>
        <p:spPr>
          <a:xfrm>
            <a:off x="8229600" y="1170432"/>
            <a:ext cx="3246120" cy="4617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-callout-heading"/>
          <p:cNvSpPr txBox="1"/>
          <p:nvPr/>
        </p:nvSpPr>
        <p:spPr>
          <a:xfrm>
            <a:off x="8458200" y="1417320"/>
            <a:ext cx="2788920" cy="32004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626B7F"/>
                </a:solidFill>
                <a:latin typeface="Arial"/>
              </a:rPr>
              <a:t>Context</a:t>
            </a:r>
          </a:p>
        </p:txBody>
      </p:sp>
      <p:sp>
        <p:nvSpPr>
          <p:cNvPr id="8" name="chart-callout"/>
          <p:cNvSpPr txBox="1"/>
          <p:nvPr/>
        </p:nvSpPr>
        <p:spPr>
          <a:xfrm>
            <a:off x="8458200" y="1783080"/>
            <a:ext cx="2788920" cy="201168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1250" b="0">
                <a:solidFill>
                  <a:srgbClr val="1F2430"/>
                </a:solidFill>
                <a:latin typeface="Arial"/>
              </a:rPr>
              <a:t>하이패스 통행료는 월별 건수가 많고 금액 변동도 독립적입니다. 2026-06 통행료는 319,420원으로 가장 높아, 주유비와 합산하지 않고 별도 관리 지표로 보는 것이 적절합니다.</a:t>
            </a:r>
          </a:p>
        </p:txBody>
      </p:sp>
      <p:sp>
        <p:nvSpPr>
          <p:cNvPr id="9" name="chart-source"/>
          <p:cNvSpPr txBox="1"/>
          <p:nvPr/>
        </p:nvSpPr>
        <p:spPr>
          <a:xfrm>
            <a:off x="8458200" y="4279392"/>
            <a:ext cx="2788920" cy="68580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850" b="0">
                <a:solidFill>
                  <a:srgbClr val="626B7F"/>
                </a:solidFill>
                <a:latin typeface="Arial"/>
              </a:rPr>
              <a:t>320k 160k 0 25-07 08 09 10 11 12 26-01 02 03 04 05 06 26-07</a:t>
            </a:r>
          </a:p>
        </p:txBody>
      </p:sp>
      <p:sp>
        <p:nvSpPr>
          <p:cNvPr id="10" name="source-note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750" b="0">
                <a:solidFill>
                  <a:srgbClr val="626B7F"/>
                </a:solidFill>
                <a:latin typeface="Arial"/>
              </a:rPr>
              <a:t>Source chart 2: extracted from report SVG and rendered as chart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D"/>
          </a:solidFill>
          <a:ln w="9525">
            <a:solidFill>
              <a:srgbClr val="FCFC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-title"/>
          <p:cNvSpPr txBox="1"/>
          <p:nvPr/>
        </p:nvSpPr>
        <p:spPr>
          <a:xfrm>
            <a:off x="566928" y="347472"/>
            <a:ext cx="10972800" cy="749808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2000" b="1">
                <a:solidFill>
                  <a:srgbClr val="1F2430"/>
                </a:solidFill>
                <a:latin typeface="Arial"/>
              </a:rPr>
              <a:t>하나카드결제 8건과 삼성카드(주) 4건을 카드대금으로 반영했습니다.</a:t>
            </a:r>
          </a:p>
        </p:txBody>
      </p:sp>
      <p:sp>
        <p:nvSpPr>
          <p:cNvPr id="4" name="chart-frame"/>
          <p:cNvSpPr/>
          <p:nvPr/>
        </p:nvSpPr>
        <p:spPr>
          <a:xfrm>
            <a:off x="658368" y="1170432"/>
            <a:ext cx="7315200" cy="4617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chart-main" descr="chart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2817"/>
            <a:ext cx="6903720" cy="3158085"/>
          </a:xfrm>
          <a:prstGeom prst="rect">
            <a:avLst/>
          </a:prstGeom>
        </p:spPr>
      </p:pic>
      <p:sp>
        <p:nvSpPr>
          <p:cNvPr id="6" name="chart-callout-frame"/>
          <p:cNvSpPr/>
          <p:nvPr/>
        </p:nvSpPr>
        <p:spPr>
          <a:xfrm>
            <a:off x="8229600" y="1170432"/>
            <a:ext cx="3246120" cy="4617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-callout-heading"/>
          <p:cNvSpPr txBox="1"/>
          <p:nvPr/>
        </p:nvSpPr>
        <p:spPr>
          <a:xfrm>
            <a:off x="8458200" y="1417320"/>
            <a:ext cx="2788920" cy="32004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626B7F"/>
                </a:solidFill>
                <a:latin typeface="Arial"/>
              </a:rPr>
              <a:t>Context</a:t>
            </a:r>
          </a:p>
        </p:txBody>
      </p:sp>
      <p:sp>
        <p:nvSpPr>
          <p:cNvPr id="8" name="chart-callout"/>
          <p:cNvSpPr txBox="1"/>
          <p:nvPr/>
        </p:nvSpPr>
        <p:spPr>
          <a:xfrm>
            <a:off x="8458200" y="1783080"/>
            <a:ext cx="2788920" cy="201168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1250" b="0">
                <a:solidFill>
                  <a:srgbClr val="1F2430"/>
                </a:solidFill>
                <a:latin typeface="Arial"/>
              </a:rPr>
              <a:t>이 변경으로 2025-08, 2025-10~2026-05의 카드대금 흐름이 기존 보고서보다 커졌습니다.</a:t>
            </a:r>
          </a:p>
        </p:txBody>
      </p:sp>
      <p:sp>
        <p:nvSpPr>
          <p:cNvPr id="9" name="chart-source"/>
          <p:cNvSpPr txBox="1"/>
          <p:nvPr/>
        </p:nvSpPr>
        <p:spPr>
          <a:xfrm>
            <a:off x="8458200" y="4279392"/>
            <a:ext cx="2788920" cy="68580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850" b="0">
                <a:solidFill>
                  <a:srgbClr val="626B7F"/>
                </a:solidFill>
                <a:latin typeface="Arial"/>
              </a:rPr>
              <a:t>4.0M 2.0M 0 25-07 08 09 10 11 12 26-01 02 03 04 05 06 26-07 하나카드 현대카드 삼성카드</a:t>
            </a:r>
          </a:p>
        </p:txBody>
      </p:sp>
      <p:sp>
        <p:nvSpPr>
          <p:cNvPr id="10" name="source-note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750" b="0">
                <a:solidFill>
                  <a:srgbClr val="626B7F"/>
                </a:solidFill>
                <a:latin typeface="Arial"/>
              </a:rPr>
              <a:t>Source chart 3: extracted from report SVG and rendered as chart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D"/>
          </a:solidFill>
          <a:ln w="9525">
            <a:solidFill>
              <a:srgbClr val="FCFC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-title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2200" b="1">
                <a:solidFill>
                  <a:srgbClr val="1F2430"/>
                </a:solidFill>
                <a:latin typeface="Arial"/>
              </a:rPr>
              <a:t>Monthly audit table</a:t>
            </a:r>
          </a:p>
        </p:txBody>
      </p:sp>
      <p:graphicFrame>
        <p:nvGraphicFramePr>
          <p:cNvPr id="4" name="table-main"/>
          <p:cNvGraphicFramePr>
            <a:graphicFrameLocks noGrp="1"/>
          </p:cNvGraphicFramePr>
          <p:nvPr/>
        </p:nvGraphicFramePr>
        <p:xfrm>
          <a:off x="566928" y="1234440"/>
          <a:ext cx="11064240" cy="3886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546860"/>
                <a:gridCol w="1546860"/>
                <a:gridCol w="1546860"/>
                <a:gridCol w="1546860"/>
                <a:gridCol w="1546860"/>
                <a:gridCol w="15468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1F2430"/>
                          </a:solidFill>
                        </a:rPr>
                        <a:t>월</a:t>
                      </a:r>
                    </a:p>
                  </a:txBody>
                  <a:tcPr marL="73152" marR="73152" marT="36576" marB="36576">
                    <a:solidFill>
                      <a:srgbClr val="CEDF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F2430"/>
                          </a:solidFill>
                        </a:rPr>
                        <a:t>주유비</a:t>
                      </a:r>
                    </a:p>
                  </a:txBody>
                  <a:tcPr marL="73152" marR="73152" marT="36576" marB="36576">
                    <a:solidFill>
                      <a:srgbClr val="CEDF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F2430"/>
                          </a:solidFill>
                        </a:rPr>
                        <a:t>하이패스</a:t>
                      </a:r>
                    </a:p>
                  </a:txBody>
                  <a:tcPr marL="73152" marR="73152" marT="36576" marB="36576">
                    <a:solidFill>
                      <a:srgbClr val="CEDF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F2430"/>
                          </a:solidFill>
                        </a:rPr>
                        <a:t>카드대금 합계</a:t>
                      </a:r>
                    </a:p>
                  </a:txBody>
                  <a:tcPr marL="73152" marR="73152" marT="36576" marB="36576">
                    <a:solidFill>
                      <a:srgbClr val="CEDF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F2430"/>
                          </a:solidFill>
                        </a:rPr>
                        <a:t>하나카드</a:t>
                      </a:r>
                    </a:p>
                  </a:txBody>
                  <a:tcPr marL="73152" marR="73152" marT="36576" marB="36576">
                    <a:solidFill>
                      <a:srgbClr val="CEDF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F2430"/>
                          </a:solidFill>
                        </a:rPr>
                        <a:t>현대카드</a:t>
                      </a:r>
                    </a:p>
                  </a:txBody>
                  <a:tcPr marL="73152" marR="73152" marT="36576" marB="36576">
                    <a:solidFill>
                      <a:srgbClr val="CEDF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1F2430"/>
                          </a:solidFill>
                        </a:rPr>
                        <a:t>삼성카드</a:t>
                      </a:r>
                    </a:p>
                  </a:txBody>
                  <a:tcPr marL="73152" marR="73152" marT="36576" marB="36576">
                    <a:solidFill>
                      <a:srgbClr val="CEDFFE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2025-07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180,000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168,900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3,955,664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1,593,678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2,339,986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22,000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2025-08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150,000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107,700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3,482,631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1,288,421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2,171,910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22,300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2025-09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210,000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110,580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4,798,345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2,134,864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2,480,041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183,440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2025-10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260,000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144,080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1,960,235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1,387,016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550,919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22,300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2025-11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250,000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130,680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2,435,002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1,618,566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794,136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22,300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2025-12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120,000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77,920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3,495,612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1,749,559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1,491,473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254,580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2026-01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300,000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223,920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2,570,164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1,343,753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1,165,111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61,300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2026-02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229,840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99,340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2,217,022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1,393,101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801,621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22,300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2026-03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256,000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232,280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2,223,500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982,262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1,218,938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22,300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2026-04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390,000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231,540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1,655,536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950,910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324,326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380,300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2026-05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258,000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190,340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2,735,202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602,160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755,142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1,377,900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2026-06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312,600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319,420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2,897,726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820,328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679,498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1,397,900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26236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1F2430"/>
                          </a:solidFill>
                        </a:rPr>
                        <a:t>2026-07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40,000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6,700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F2430"/>
                          </a:solidFill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ble-note"/>
          <p:cNvSpPr txBox="1"/>
          <p:nvPr/>
        </p:nvSpPr>
        <p:spPr>
          <a:xfrm>
            <a:off x="713232" y="5413248"/>
            <a:ext cx="10698480" cy="50292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1150" b="0">
                <a:solidFill>
                  <a:srgbClr val="626B7F"/>
                </a:solidFill>
                <a:latin typeface="Arial"/>
              </a:rPr>
              <a:t>Source table extracted from the report.</a:t>
            </a:r>
          </a:p>
        </p:txBody>
      </p:sp>
      <p:sp>
        <p:nvSpPr>
          <p:cNvPr id="6" name="source-note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750" b="0">
                <a:solidFill>
                  <a:srgbClr val="626B7F"/>
                </a:solidFill>
                <a:latin typeface="Arial"/>
              </a:rPr>
              <a:t>Source: report metric 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D"/>
          </a:solidFill>
          <a:ln w="9525">
            <a:solidFill>
              <a:srgbClr val="FCFC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-title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2300" b="1">
                <a:solidFill>
                  <a:srgbClr val="1F2430"/>
                </a:solidFill>
                <a:latin typeface="Arial"/>
              </a:rPr>
              <a:t>Caveats And Assumptions</a:t>
            </a:r>
          </a:p>
        </p:txBody>
      </p:sp>
      <p:sp>
        <p:nvSpPr>
          <p:cNvPr id="4" name="caveats-rule"/>
          <p:cNvSpPr/>
          <p:nvPr/>
        </p:nvSpPr>
        <p:spPr>
          <a:xfrm>
            <a:off x="658368" y="1078992"/>
            <a:ext cx="1097280" cy="22860"/>
          </a:xfrm>
          <a:prstGeom prst="rect">
            <a:avLst/>
          </a:prstGeom>
          <a:solidFill>
            <a:srgbClr val="B8A037"/>
          </a:solidFill>
          <a:ln>
            <a:solidFill>
              <a:srgbClr val="B8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veats"/>
          <p:cNvSpPr txBox="1"/>
          <p:nvPr/>
        </p:nvSpPr>
        <p:spPr>
          <a:xfrm>
            <a:off x="841248" y="1389888"/>
            <a:ext cx="10195560" cy="4434840"/>
          </a:xfrm>
          <a:prstGeom prst="rect">
            <a:avLst/>
          </a:prstGeom>
          <a:noFill/>
        </p:spPr>
        <p:txBody>
          <a:bodyPr wrap="square" lIns="50800" rIns="50800" tIns="12700" bIns="12700">
            <a:spAutoFit/>
          </a:bodyPr>
          <a:lstStyle/>
          <a:p>
            <a:pPr marL="285750" indent="-142875">
              <a:buChar char="•"/>
              <a:spcAft>
                <a:spcPts val="550"/>
              </a:spcAft>
            </a:pPr>
            <a:r>
              <a:rPr sz="1510">
                <a:solidFill>
                  <a:srgbClr val="1F2430"/>
                </a:solidFill>
                <a:latin typeface="Arial"/>
              </a:rPr>
              <a:t>분류 중복 가능성: 주유비와 통행료 규칙이 동시에 걸린 행은 17건입니다. 내용에 “고속도로”가 들어간 주유소명은 주유비 키워드와 통행료 키워드가 동시에 적용될 수 있습니다.</a:t>
            </a:r>
          </a:p>
          <a:p>
            <a:pPr marL="285750" indent="-142875">
              <a:buChar char="•"/>
              <a:spcAft>
                <a:spcPts val="550"/>
              </a:spcAft>
            </a:pPr>
            <a:r>
              <a:rPr sz="1510">
                <a:solidFill>
                  <a:srgbClr val="1F2430"/>
                </a:solidFill>
                <a:latin typeface="Arial"/>
              </a:rPr>
              <a:t>금액은 원(KRW)이며, 지출/이체의 음수 금액만 비용으로 반영하고 절댓값으로 표시했습니다.</a:t>
            </a:r>
          </a:p>
          <a:p>
            <a:pPr marL="285750" indent="-142875">
              <a:buChar char="•"/>
              <a:spcAft>
                <a:spcPts val="550"/>
              </a:spcAft>
            </a:pPr>
            <a:r>
              <a:rPr sz="1510">
                <a:solidFill>
                  <a:srgbClr val="1F2430"/>
                </a:solidFill>
                <a:latin typeface="Arial"/>
              </a:rPr>
              <a:t>카드대금은 청구사 납부액 기준입니다. 내용 열의 `하나카드/하나카드결제`, `현대카드`, `삼성카드/삼성카드(주)`를 각각 하나카드, 현대카드, 삼성카드로 매핑했습니다.</a:t>
            </a:r>
          </a:p>
          <a:p>
            <a:pPr marL="285750" indent="-142875">
              <a:buChar char="•"/>
              <a:spcAft>
                <a:spcPts val="550"/>
              </a:spcAft>
            </a:pPr>
            <a:r>
              <a:rPr sz="1510">
                <a:solidFill>
                  <a:srgbClr val="1F2430"/>
                </a:solidFill>
                <a:latin typeface="Arial"/>
              </a:rPr>
              <a:t>2026-07은 2026-07-02까지의 부분월입니다.</a:t>
            </a:r>
          </a:p>
          <a:p>
            <a:pPr marL="285750" indent="-142875">
              <a:buChar char="•"/>
              <a:spcAft>
                <a:spcPts val="550"/>
              </a:spcAft>
            </a:pPr>
            <a:r>
              <a:rPr sz="1510">
                <a:solidFill>
                  <a:srgbClr val="1F2430"/>
                </a:solidFill>
                <a:latin typeface="Arial"/>
              </a:rPr>
              <a:t>날짜 파싱 실패 0건, 금액 파싱 실패 0건, KRW 외 통화 0건입니다.</a:t>
            </a:r>
          </a:p>
        </p:txBody>
      </p:sp>
      <p:sp>
        <p:nvSpPr>
          <p:cNvPr id="6" name="source-note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750" b="0">
                <a:solidFill>
                  <a:srgbClr val="626B7F"/>
                </a:solidFill>
                <a:latin typeface="Arial"/>
              </a:rPr>
              <a:t>Source: report caveats and assumptions section.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CFCFD"/>
          </a:solidFill>
          <a:ln w="9525">
            <a:solidFill>
              <a:srgbClr val="FCFC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-title"/>
          <p:cNvSpPr txBox="1"/>
          <p:nvPr/>
        </p:nvSpPr>
        <p:spPr>
          <a:xfrm>
            <a:off x="566928" y="384048"/>
            <a:ext cx="10972800" cy="502920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2300" b="1">
                <a:solidFill>
                  <a:srgbClr val="1F2430"/>
                </a:solidFill>
                <a:latin typeface="Arial"/>
              </a:rPr>
              <a:t>Sources And Reproducibility</a:t>
            </a:r>
          </a:p>
        </p:txBody>
      </p:sp>
      <p:sp>
        <p:nvSpPr>
          <p:cNvPr id="4" name="sources-rule"/>
          <p:cNvSpPr/>
          <p:nvPr/>
        </p:nvSpPr>
        <p:spPr>
          <a:xfrm>
            <a:off x="658368" y="1078992"/>
            <a:ext cx="1097280" cy="22860"/>
          </a:xfrm>
          <a:prstGeom prst="rect">
            <a:avLst/>
          </a:prstGeom>
          <a:solidFill>
            <a:srgbClr val="B8A037"/>
          </a:solidFill>
          <a:ln>
            <a:solidFill>
              <a:srgbClr val="B8A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ources"/>
          <p:cNvSpPr txBox="1"/>
          <p:nvPr/>
        </p:nvSpPr>
        <p:spPr>
          <a:xfrm>
            <a:off x="841248" y="1261872"/>
            <a:ext cx="10195560" cy="4983480"/>
          </a:xfrm>
          <a:prstGeom prst="rect">
            <a:avLst/>
          </a:prstGeom>
          <a:noFill/>
        </p:spPr>
        <p:txBody>
          <a:bodyPr wrap="square" lIns="50800" rIns="50800" tIns="12700" bIns="12700">
            <a:spAutoFit/>
          </a:bodyPr>
          <a:lstStyle/>
          <a:p>
            <a:pPr marL="285750" indent="-142875">
              <a:buChar char="•"/>
              <a:spcAft>
                <a:spcPts val="200"/>
              </a:spcAft>
            </a:pPr>
            <a:r>
              <a:rPr sz="1060">
                <a:solidFill>
                  <a:srgbClr val="2E4780"/>
                </a:solidFill>
                <a:latin typeface="Arial"/>
                <a:hlinkClick r:id="rId2"/>
              </a:rPr>
              <a:t>202507-202607 가계부 / 시트1!A:J: https://docs.google.com/spreadsheets/d/1Qx9rdFlCteVn3vudJ1aJ0IMH8KpF01YtTksyN4fgkX0/edit</a:t>
            </a:r>
          </a:p>
          <a:p>
            <a:pPr marL="285750" indent="-142875">
              <a:buChar char="•"/>
              <a:spcAft>
                <a:spcPts val="200"/>
              </a:spcAft>
            </a:pPr>
            <a:r>
              <a:rPr sz="1060">
                <a:solidFill>
                  <a:srgbClr val="2E4780"/>
                </a:solidFill>
                <a:latin typeface="Arial"/>
                <a:hlinkClick r:id="rId3"/>
              </a:rPr>
              <a:t>skybridge dashboard app: https://mcp-server-dataanalyticswidgets-d90d6b74b2c37858.web-sandbox.oaiusercontent.com/?app=skybridge</a:t>
            </a:r>
          </a:p>
          <a:p>
            <a:pPr marL="285750" indent="-142875">
              <a:buChar char="•"/>
              <a:spcAft>
                <a:spcPts val="200"/>
              </a:spcAft>
            </a:pPr>
            <a:r>
              <a:rPr sz="1060">
                <a:solidFill>
                  <a:srgbClr val="1F2430"/>
                </a:solidFill>
                <a:latin typeface="Arial"/>
              </a:rPr>
              <a:t>Source Google Sheet: 202507-202607 가계부 / 시트1!A:J . Local CSV export: 202507-202607 가계부.CSV.csv. Dashboard app artifact: skybridge dashboard app . Generated at: 2026-07-02T12:00:00+09:00.</a:t>
            </a:r>
          </a:p>
          <a:p>
            <a:pPr marL="285750" indent="-142875">
              <a:buChar char="•"/>
              <a:spcAft>
                <a:spcPts val="200"/>
              </a:spcAft>
            </a:pPr>
            <a:r>
              <a:rPr sz="1060">
                <a:solidFill>
                  <a:srgbClr val="1F2430"/>
                </a:solidFill>
                <a:latin typeface="Arial"/>
              </a:rPr>
              <a:t>주유비 규칙: `타입=지출`, `대분류=자동차`, `내용`에 주유소/에너지/오일뱅크/석유/주유 포함. 통행료 규칙: 하이패스 결제수단 또는 내용에 대교/고속도로/브릿지/브리지/도로 포함. 카드대금 규칙: 내용 열의 하나카드/하나카드결제/현대카드/삼성카드/삼성카드(주) 매핑.</a:t>
            </a:r>
          </a:p>
        </p:txBody>
      </p:sp>
      <p:sp>
        <p:nvSpPr>
          <p:cNvPr id="6" name="source-note"/>
          <p:cNvSpPr txBox="1"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</p:spPr>
        <p:txBody>
          <a:bodyPr wrap="square" lIns="50800" rIns="50800" tIns="12700" bIns="12700" anchor="t">
            <a:spAutoFit/>
          </a:bodyPr>
          <a:lstStyle/>
          <a:p>
            <a:pPr algn="l"/>
            <a:r>
              <a:rPr sz="750" b="0">
                <a:solidFill>
                  <a:srgbClr val="626B7F"/>
                </a:solidFill>
                <a:latin typeface="Arial"/>
              </a:rPr>
              <a:t>Source: report sources and reproducibility 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