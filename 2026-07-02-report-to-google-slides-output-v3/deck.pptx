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spreadsheets/d/1Qx9rdFlCteVn3vudJ1aJ0IMH8KpF01YtTksyN4fgkX0/edit" TargetMode="External"/><Relationship Id="rId3" Type="http://schemas.openxmlformats.org/officeDocument/2006/relationships/hyperlink" Target="https://mcp-server-dataanalyticswidgets-d90d6b74b2c37858.web-sandbox.oaiusercontent.com/?app=skybridg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58368" y="420624"/>
            <a:ext cx="4754880" cy="329184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950" b="1">
                <a:solidFill>
                  <a:srgbClr val="626B7F"/>
                </a:solidFill>
                <a:latin typeface="Arial"/>
              </a:rPr>
              <a:t>Analytics report</a:t>
            </a:r>
          </a:p>
        </p:txBody>
      </p:sp>
      <p:sp>
        <p:nvSpPr>
          <p:cNvPr id="4" name="slide-title"/>
          <p:cNvSpPr txBox="1"/>
          <p:nvPr/>
        </p:nvSpPr>
        <p:spPr>
          <a:xfrm>
            <a:off x="621792" y="868680"/>
            <a:ext cx="10698480" cy="14173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Arial"/>
              </a:rPr>
              <a:t>가계부 자동차/카드대금 임원 보고서</a:t>
            </a:r>
          </a:p>
        </p:txBody>
      </p:sp>
      <p:sp>
        <p:nvSpPr>
          <p:cNvPr id="5" name="title-rule"/>
          <p:cNvSpPr/>
          <p:nvPr/>
        </p:nvSpPr>
        <p:spPr>
          <a:xfrm>
            <a:off x="658368" y="2468880"/>
            <a:ext cx="13258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658368" y="2761488"/>
            <a:ext cx="9784080" cy="9144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464C55"/>
                </a:solidFill>
                <a:latin typeface="Arial"/>
              </a:rPr>
              <a:t/>
            </a:r>
          </a:p>
        </p:txBody>
      </p:sp>
      <p:sp>
        <p:nvSpPr>
          <p:cNvPr id="7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HTML report conversion inventory.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430"/>
                </a:solidFill>
                <a:latin typeface="Arial"/>
              </a:rPr>
              <a:t>Executive summary</a:t>
            </a:r>
          </a:p>
        </p:txBody>
      </p:sp>
      <p:sp>
        <p:nvSpPr>
          <p:cNvPr id="4" name="summary-rule"/>
          <p:cNvSpPr/>
          <p:nvPr/>
        </p:nvSpPr>
        <p:spPr>
          <a:xfrm>
            <a:off x="658368" y="1069848"/>
            <a:ext cx="10972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mmary-bullets"/>
          <p:cNvSpPr txBox="1"/>
          <p:nvPr/>
        </p:nvSpPr>
        <p:spPr>
          <a:xfrm>
            <a:off x="658368" y="1353312"/>
            <a:ext cx="10561320" cy="4343400"/>
          </a:xfrm>
          <a:prstGeom prst="rect">
            <a:avLst/>
          </a:prstGeom>
          <a:noFill/>
        </p:spPr>
        <p:txBody>
          <a:bodyPr wrap="square" lIns="50800" rIns="50800" tIns="12700" bIns="12700">
            <a:spAutoFit/>
          </a:bodyPr>
          <a:lstStyle/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자동차 관련 반복 지출은 통행료가 주유비에 근접하거나 일부 월에는 더 큽니다.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2026-06은 통행료가 319,420원으로 기간 내 최고치입니다.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카드대금은 특정 월에 집중됩니다.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분류 기준상 일부 주유소명은 통행료 키워드와 겹칩니다.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executive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47472"/>
            <a:ext cx="10972800" cy="749808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F2430"/>
                </a:solidFill>
                <a:latin typeface="Arial"/>
              </a:rPr>
              <a:t>주유비는 2026-04에 390,000원으로 정점을 찍었고, 2026-06에도 312,600원으로 높은 수준을 유지했습니다.</a:t>
            </a:r>
          </a:p>
        </p:txBody>
      </p:sp>
      <p:sp>
        <p:nvSpPr>
          <p:cNvPr id="4" name="chart-frame"/>
          <p:cNvSpPr/>
          <p:nvPr/>
        </p:nvSpPr>
        <p:spPr>
          <a:xfrm>
            <a:off x="658368" y="1170432"/>
            <a:ext cx="731520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art-main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2817"/>
            <a:ext cx="6903720" cy="3158085"/>
          </a:xfrm>
          <a:prstGeom prst="rect">
            <a:avLst/>
          </a:prstGeom>
        </p:spPr>
      </p:pic>
      <p:sp>
        <p:nvSpPr>
          <p:cNvPr id="6" name="chart-callout-frame"/>
          <p:cNvSpPr/>
          <p:nvPr/>
        </p:nvSpPr>
        <p:spPr>
          <a:xfrm>
            <a:off x="8229600" y="1170432"/>
            <a:ext cx="324612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-callout-heading"/>
          <p:cNvSpPr txBox="1"/>
          <p:nvPr/>
        </p:nvSpPr>
        <p:spPr>
          <a:xfrm>
            <a:off x="8458200" y="1417320"/>
            <a:ext cx="2788920" cy="3200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626B7F"/>
                </a:solidFill>
                <a:latin typeface="Arial"/>
              </a:rPr>
              <a:t>Context</a:t>
            </a:r>
          </a:p>
        </p:txBody>
      </p:sp>
      <p:sp>
        <p:nvSpPr>
          <p:cNvPr id="8" name="chart-callout"/>
          <p:cNvSpPr txBox="1"/>
          <p:nvPr/>
        </p:nvSpPr>
        <p:spPr>
          <a:xfrm>
            <a:off x="8458200" y="1783080"/>
            <a:ext cx="2788920" cy="201168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250" b="0">
                <a:solidFill>
                  <a:srgbClr val="1F2430"/>
                </a:solidFill>
                <a:latin typeface="Arial"/>
              </a:rPr>
              <a:t>2026-07은 7월 2일까지의 부분월이라 비교 시 낮게 보아야 합니다.</a:t>
            </a:r>
          </a:p>
        </p:txBody>
      </p:sp>
      <p:sp>
        <p:nvSpPr>
          <p:cNvPr id="9" name="chart-source"/>
          <p:cNvSpPr txBox="1"/>
          <p:nvPr/>
        </p:nvSpPr>
        <p:spPr>
          <a:xfrm>
            <a:off x="8458200" y="4279392"/>
            <a:ext cx="2788920" cy="6858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850" b="0">
                <a:solidFill>
                  <a:srgbClr val="626B7F"/>
                </a:solidFill>
                <a:latin typeface="Arial"/>
              </a:rPr>
              <a:t>400k 200k 0 25-07 08 09 10 11 12 26-01 02 03 04 05 06 07</a:t>
            </a:r>
          </a:p>
        </p:txBody>
      </p:sp>
      <p:sp>
        <p:nvSpPr>
          <p:cNvPr id="10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 chart 1: extracted from report SVG and rendered as chart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47472"/>
            <a:ext cx="10972800" cy="749808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F2430"/>
                </a:solidFill>
                <a:latin typeface="Arial"/>
              </a:rPr>
              <a:t>하이패스 통행료는 월별 건수가 많고 금액 변동도 독립적입니다.</a:t>
            </a:r>
          </a:p>
        </p:txBody>
      </p:sp>
      <p:sp>
        <p:nvSpPr>
          <p:cNvPr id="4" name="chart-frame"/>
          <p:cNvSpPr/>
          <p:nvPr/>
        </p:nvSpPr>
        <p:spPr>
          <a:xfrm>
            <a:off x="658368" y="1170432"/>
            <a:ext cx="731520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art-main" descr="char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2817"/>
            <a:ext cx="6903720" cy="3158085"/>
          </a:xfrm>
          <a:prstGeom prst="rect">
            <a:avLst/>
          </a:prstGeom>
        </p:spPr>
      </p:pic>
      <p:sp>
        <p:nvSpPr>
          <p:cNvPr id="6" name="chart-callout-frame"/>
          <p:cNvSpPr/>
          <p:nvPr/>
        </p:nvSpPr>
        <p:spPr>
          <a:xfrm>
            <a:off x="8229600" y="1170432"/>
            <a:ext cx="324612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-callout-heading"/>
          <p:cNvSpPr txBox="1"/>
          <p:nvPr/>
        </p:nvSpPr>
        <p:spPr>
          <a:xfrm>
            <a:off x="8458200" y="1417320"/>
            <a:ext cx="2788920" cy="3200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626B7F"/>
                </a:solidFill>
                <a:latin typeface="Arial"/>
              </a:rPr>
              <a:t>Context</a:t>
            </a:r>
          </a:p>
        </p:txBody>
      </p:sp>
      <p:sp>
        <p:nvSpPr>
          <p:cNvPr id="8" name="chart-callout"/>
          <p:cNvSpPr txBox="1"/>
          <p:nvPr/>
        </p:nvSpPr>
        <p:spPr>
          <a:xfrm>
            <a:off x="8458200" y="1783080"/>
            <a:ext cx="2788920" cy="201168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250" b="0">
                <a:solidFill>
                  <a:srgbClr val="1F2430"/>
                </a:solidFill>
                <a:latin typeface="Arial"/>
              </a:rPr>
              <a:t>하이패스 통행료는 월별 건수가 많고 금액 변동도 독립적입니다. 2026-06 통행료는 319,420원으로 가장 높아, 주유비와 합산하지 않고 별도 관리 지표로 보는 것이 적절합니다.</a:t>
            </a:r>
          </a:p>
        </p:txBody>
      </p:sp>
      <p:sp>
        <p:nvSpPr>
          <p:cNvPr id="9" name="chart-source"/>
          <p:cNvSpPr txBox="1"/>
          <p:nvPr/>
        </p:nvSpPr>
        <p:spPr>
          <a:xfrm>
            <a:off x="8458200" y="4279392"/>
            <a:ext cx="2788920" cy="6858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850" b="0">
                <a:solidFill>
                  <a:srgbClr val="626B7F"/>
                </a:solidFill>
                <a:latin typeface="Arial"/>
              </a:rPr>
              <a:t>320k 160k 0 25-07 08 09 10 11 12 26-01 02 03 04 05 06 07</a:t>
            </a:r>
          </a:p>
        </p:txBody>
      </p:sp>
      <p:sp>
        <p:nvSpPr>
          <p:cNvPr id="10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 chart 2: extracted from report SVG and rendered as chart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47472"/>
            <a:ext cx="10972800" cy="749808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F2430"/>
                </a:solidFill>
                <a:latin typeface="Arial"/>
              </a:rPr>
              <a:t>카드대금 납부액은 매월 고르게 발생하지 않고 일부 월에 집중됩니다.</a:t>
            </a:r>
          </a:p>
        </p:txBody>
      </p:sp>
      <p:sp>
        <p:nvSpPr>
          <p:cNvPr id="4" name="chart-frame"/>
          <p:cNvSpPr/>
          <p:nvPr/>
        </p:nvSpPr>
        <p:spPr>
          <a:xfrm>
            <a:off x="658368" y="1170432"/>
            <a:ext cx="731520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art-main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2817"/>
            <a:ext cx="6903720" cy="3158085"/>
          </a:xfrm>
          <a:prstGeom prst="rect">
            <a:avLst/>
          </a:prstGeom>
        </p:spPr>
      </p:pic>
      <p:sp>
        <p:nvSpPr>
          <p:cNvPr id="6" name="chart-callout-frame"/>
          <p:cNvSpPr/>
          <p:nvPr/>
        </p:nvSpPr>
        <p:spPr>
          <a:xfrm>
            <a:off x="8229600" y="1170432"/>
            <a:ext cx="324612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-callout-heading"/>
          <p:cNvSpPr txBox="1"/>
          <p:nvPr/>
        </p:nvSpPr>
        <p:spPr>
          <a:xfrm>
            <a:off x="8458200" y="1417320"/>
            <a:ext cx="2788920" cy="3200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626B7F"/>
                </a:solidFill>
                <a:latin typeface="Arial"/>
              </a:rPr>
              <a:t>Context</a:t>
            </a:r>
          </a:p>
        </p:txBody>
      </p:sp>
      <p:sp>
        <p:nvSpPr>
          <p:cNvPr id="8" name="chart-callout"/>
          <p:cNvSpPr txBox="1"/>
          <p:nvPr/>
        </p:nvSpPr>
        <p:spPr>
          <a:xfrm>
            <a:off x="8458200" y="1783080"/>
            <a:ext cx="2788920" cy="201168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250" b="0">
                <a:solidFill>
                  <a:srgbClr val="1F2430"/>
                </a:solidFill>
                <a:latin typeface="Arial"/>
              </a:rPr>
              <a:t>카드대금 납부액은 매월 고르게 발생하지 않고 일부 월에 집중됩니다. 2025-07은 하나카드와 현대카드 납부가 동시에 커졌고, 2026-02도 하나카드와 현대카드가 함께 반영되어 높습니다.</a:t>
            </a:r>
          </a:p>
        </p:txBody>
      </p:sp>
      <p:sp>
        <p:nvSpPr>
          <p:cNvPr id="9" name="chart-source"/>
          <p:cNvSpPr txBox="1"/>
          <p:nvPr/>
        </p:nvSpPr>
        <p:spPr>
          <a:xfrm>
            <a:off x="8458200" y="4279392"/>
            <a:ext cx="2788920" cy="6858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850" b="0">
                <a:solidFill>
                  <a:srgbClr val="626B7F"/>
                </a:solidFill>
                <a:latin typeface="Arial"/>
              </a:rPr>
              <a:t>4.0M 2.0M 0 25-07 08 09 10 11 12 26-01 02 03 04 05 06 07 하나카드 현대카드 삼성카드</a:t>
            </a:r>
          </a:p>
        </p:txBody>
      </p:sp>
      <p:sp>
        <p:nvSpPr>
          <p:cNvPr id="10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 chart 3: extracted from report SVG and rendered as chart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1F2430"/>
                </a:solidFill>
                <a:latin typeface="Arial"/>
              </a:rPr>
              <a:t>Monthly audit table</a:t>
            </a:r>
          </a:p>
        </p:txBody>
      </p:sp>
      <p:graphicFrame>
        <p:nvGraphicFramePr>
          <p:cNvPr id="4" name="table-main"/>
          <p:cNvGraphicFramePr>
            <a:graphicFrameLocks noGrp="1"/>
          </p:cNvGraphicFramePr>
          <p:nvPr/>
        </p:nvGraphicFramePr>
        <p:xfrm>
          <a:off x="566928" y="1234440"/>
          <a:ext cx="11064240" cy="3886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546860"/>
                <a:gridCol w="1546860"/>
                <a:gridCol w="1546860"/>
                <a:gridCol w="1546860"/>
                <a:gridCol w="1546860"/>
                <a:gridCol w="15468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F2430"/>
                          </a:solidFill>
                        </a:rPr>
                        <a:t>월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주유비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하이패스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카드대금 합계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하나카드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현대카드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삼성카드</a:t>
                      </a:r>
                    </a:p>
                  </a:txBody>
                  <a:tcPr marL="73152" marR="73152" marT="36576" marB="36576">
                    <a:solidFill>
                      <a:srgbClr val="D8E5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168,900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3,955,664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1,593,678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2,339,986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150,000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107,700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210,000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110,580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2,134,864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2,134,864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260,000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144,080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550,919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550,919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130,680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120,000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77,920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300,000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223,920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229,840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99,340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2,194,722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1,393,101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801,621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256,000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232,280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1,218,938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1,218,938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390,000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231,540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324,326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324,326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258,000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190,340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755,142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755,142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312,600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319,420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1,499,826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820,328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679,498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40,000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6,700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-note"/>
          <p:cNvSpPr txBox="1"/>
          <p:nvPr/>
        </p:nvSpPr>
        <p:spPr>
          <a:xfrm>
            <a:off x="713232" y="5413248"/>
            <a:ext cx="1069848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150" b="0">
                <a:solidFill>
                  <a:srgbClr val="626B7F"/>
                </a:solidFill>
                <a:latin typeface="Arial"/>
              </a:rPr>
              <a:t>Source table extracted from the report.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metric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300" b="1">
                <a:solidFill>
                  <a:srgbClr val="1F2430"/>
                </a:solidFill>
                <a:latin typeface="Arial"/>
              </a:rPr>
              <a:t>Caveats And Assumptions</a:t>
            </a:r>
          </a:p>
        </p:txBody>
      </p:sp>
      <p:sp>
        <p:nvSpPr>
          <p:cNvPr id="4" name="caveats-rule"/>
          <p:cNvSpPr/>
          <p:nvPr/>
        </p:nvSpPr>
        <p:spPr>
          <a:xfrm>
            <a:off x="658368" y="1078992"/>
            <a:ext cx="10972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veats"/>
          <p:cNvSpPr txBox="1"/>
          <p:nvPr/>
        </p:nvSpPr>
        <p:spPr>
          <a:xfrm>
            <a:off x="841248" y="1389888"/>
            <a:ext cx="10195560" cy="4434840"/>
          </a:xfrm>
          <a:prstGeom prst="rect">
            <a:avLst/>
          </a:prstGeom>
          <a:noFill/>
        </p:spPr>
        <p:txBody>
          <a:bodyPr wrap="square" lIns="50800" rIns="50800" tIns="12700" bIns="12700">
            <a:spAutoFit/>
          </a:bodyPr>
          <a:lstStyle/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분류 중복 가능성: 주유비와 통행료 규칙이 동시에 걸린 행은 17건입니다. 예를 들어 내용에 “고속도로”가 들어간 주유소명은 주유비 키워드와 통행료 키워드가 동시에 적용될 수 있습니다.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금액은 원(KRW)이며, 지출/이체의 음수 금액만 비용으로 반영하고 절댓값으로 표시했습니다.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카드대금은 사용카드별 지출액이 아니라 청구사 기준 납부액입니다. 기준 행은 `타입=이체`, `대분류=카드대금`, `내용=하나카드/현대카드/삼성카드`입니다.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2026-07은 2026-07-02까지의 부분월입니다.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날짜 파싱 실패, 금액 파싱 실패, KRW 외 통화는 모두 0건이었습니다.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caveats and assumptions section.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300" b="1">
                <a:solidFill>
                  <a:srgbClr val="1F2430"/>
                </a:solidFill>
                <a:latin typeface="Arial"/>
              </a:rPr>
              <a:t>Sources And Reproducibility</a:t>
            </a:r>
          </a:p>
        </p:txBody>
      </p:sp>
      <p:sp>
        <p:nvSpPr>
          <p:cNvPr id="4" name="sources-rule"/>
          <p:cNvSpPr/>
          <p:nvPr/>
        </p:nvSpPr>
        <p:spPr>
          <a:xfrm>
            <a:off x="658368" y="1078992"/>
            <a:ext cx="10972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s"/>
          <p:cNvSpPr txBox="1"/>
          <p:nvPr/>
        </p:nvSpPr>
        <p:spPr>
          <a:xfrm>
            <a:off x="841248" y="1261872"/>
            <a:ext cx="10195560" cy="4983480"/>
          </a:xfrm>
          <a:prstGeom prst="rect">
            <a:avLst/>
          </a:prstGeom>
          <a:noFill/>
        </p:spPr>
        <p:txBody>
          <a:bodyPr wrap="square" lIns="50800" rIns="50800" tIns="12700" bIns="12700">
            <a:spAutoFit/>
          </a:bodyPr>
          <a:lstStyle/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2E4780"/>
                </a:solidFill>
                <a:latin typeface="Arial"/>
                <a:hlinkClick r:id="rId2"/>
              </a:rPr>
              <a:t>202507-202607 가계부 / 시트1!A:J: https://docs.google.com/spreadsheets/d/1Qx9rdFlCteVn3vudJ1aJ0IMH8KpF01YtTksyN4fgkX0/edit</a:t>
            </a:r>
          </a:p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2E4780"/>
                </a:solidFill>
                <a:latin typeface="Arial"/>
                <a:hlinkClick r:id="rId3"/>
              </a:rPr>
              <a:t>skybridge dashboard app: https://mcp-server-dataanalyticswidgets-d90d6b74b2c37858.web-sandbox.oaiusercontent.com/?app=skybridge</a:t>
            </a:r>
          </a:p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1F2430"/>
                </a:solidFill>
                <a:latin typeface="Arial"/>
              </a:rPr>
              <a:t>Source Google Sheet: 202507-202607 가계부 / 시트1!A:J . Dashboard app artifact: skybridge dashboard app . Generated at: 2026-07-02T12:00:00+09:00.</a:t>
            </a:r>
          </a:p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1F2430"/>
                </a:solidFill>
                <a:latin typeface="Arial"/>
              </a:rPr>
              <a:t>주유비 규칙: `타입=지출`, `대분류=자동차`, `내용`에 주유소/에너지/오일뱅크/석유/주유 포함. 통행료 규칙: 하이패스 결제수단 또는 내용에 대교/고속도로/브릿지/브리지/도로 포함. 카드대금 규칙: 이체/카드대금 행 중 하나카드/현대카드/삼성카드.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sources and reproducibility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